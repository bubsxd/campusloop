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d7e391c8664f68" /><Relationship Type="http://schemas.openxmlformats.org/officeDocument/2006/relationships/extended-properties" Target="/docProps/app.xml" Id="R173c61e031944344" /><Relationship Type="http://schemas.openxmlformats.org/officeDocument/2006/relationships/officeDocument" Target="/ppt/presentation.xml" Id="Re356f1444f9f46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171b82e454f9e"/>
  </p:sldMasterIdLst>
  <p:notesMasterIdLst>
    <p:notesMasterId xmlns:r="http://schemas.openxmlformats.org/officeDocument/2006/relationships" r:id="Rec7e15a7f226419d"/>
  </p:notesMasterIdLst>
  <p:sldIdLst>
    <p:sldId xmlns:r="http://schemas.openxmlformats.org/officeDocument/2006/relationships" id="256" r:id="Ra7710ea428da4438"/>
    <p:sldId xmlns:r="http://schemas.openxmlformats.org/officeDocument/2006/relationships" id="257" r:id="R671b114346bd4c56"/>
    <p:sldId xmlns:r="http://schemas.openxmlformats.org/officeDocument/2006/relationships" id="258" r:id="Rc824c7a7ab594823"/>
    <p:sldId xmlns:r="http://schemas.openxmlformats.org/officeDocument/2006/relationships" id="259" r:id="R96c4eeaba9ef4b3c"/>
    <p:sldId xmlns:r="http://schemas.openxmlformats.org/officeDocument/2006/relationships" id="260" r:id="Rc2d21379867343ef"/>
    <p:sldId xmlns:r="http://schemas.openxmlformats.org/officeDocument/2006/relationships" id="261" r:id="R9c2c8148e3a04501"/>
    <p:sldId xmlns:r="http://schemas.openxmlformats.org/officeDocument/2006/relationships" id="262" r:id="Re5f214791dbc4c22"/>
    <p:sldId xmlns:r="http://schemas.openxmlformats.org/officeDocument/2006/relationships" id="263" r:id="R843e4028d528430c"/>
    <p:sldId xmlns:r="http://schemas.openxmlformats.org/officeDocument/2006/relationships" id="264" r:id="Re079d60bf7804cb1"/>
    <p:sldId xmlns:r="http://schemas.openxmlformats.org/officeDocument/2006/relationships" id="265" r:id="R473e3d59663242ea"/>
    <p:sldId xmlns:r="http://schemas.openxmlformats.org/officeDocument/2006/relationships" id="266" r:id="Rc820baf014a44c33"/>
    <p:sldId xmlns:r="http://schemas.openxmlformats.org/officeDocument/2006/relationships" id="267" r:id="R80275d589c3f4ef1"/>
    <p:sldId xmlns:r="http://schemas.openxmlformats.org/officeDocument/2006/relationships" id="268" r:id="R6efde3ea83d544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0db03ac444038" /><Relationship Type="http://schemas.openxmlformats.org/officeDocument/2006/relationships/slideMaster" Target="/ppt/slideMasters/slideMaster1.xml" Id="Ra88171b82e454f9e" /><Relationship Type="http://schemas.openxmlformats.org/officeDocument/2006/relationships/notesMaster" Target="/ppt/notesMasters/notesMaster1.xml" Id="Rec7e15a7f226419d" /><Relationship Type="http://schemas.openxmlformats.org/officeDocument/2006/relationships/presProps" Target="/ppt/presProps.xml" Id="R2c0283a76f0c41a4" /><Relationship Type="http://schemas.openxmlformats.org/officeDocument/2006/relationships/tableStyles" Target="/ppt/tableStyles.xml" Id="R7b2d8e728bc4477d" /><Relationship Type="http://schemas.openxmlformats.org/officeDocument/2006/relationships/slide" Target="/ppt/slides/slide1.xml" Id="Ra7710ea428da4438" /><Relationship Type="http://schemas.openxmlformats.org/officeDocument/2006/relationships/slide" Target="/ppt/slides/slide2.xml" Id="R671b114346bd4c56" /><Relationship Type="http://schemas.openxmlformats.org/officeDocument/2006/relationships/slide" Target="/ppt/slides/slide3.xml" Id="Rc824c7a7ab594823" /><Relationship Type="http://schemas.openxmlformats.org/officeDocument/2006/relationships/slide" Target="/ppt/slides/slide4.xml" Id="R96c4eeaba9ef4b3c" /><Relationship Type="http://schemas.openxmlformats.org/officeDocument/2006/relationships/slide" Target="/ppt/slides/slide5.xml" Id="Rc2d21379867343ef" /><Relationship Type="http://schemas.openxmlformats.org/officeDocument/2006/relationships/slide" Target="/ppt/slides/slide6.xml" Id="R9c2c8148e3a04501" /><Relationship Type="http://schemas.openxmlformats.org/officeDocument/2006/relationships/slide" Target="/ppt/slides/slide7.xml" Id="Re5f214791dbc4c22" /><Relationship Type="http://schemas.openxmlformats.org/officeDocument/2006/relationships/slide" Target="/ppt/slides/slide8.xml" Id="R843e4028d528430c" /><Relationship Type="http://schemas.openxmlformats.org/officeDocument/2006/relationships/slide" Target="/ppt/slides/slide9.xml" Id="Re079d60bf7804cb1" /><Relationship Type="http://schemas.openxmlformats.org/officeDocument/2006/relationships/slide" Target="/ppt/slides/slide10.xml" Id="R473e3d59663242ea" /><Relationship Type="http://schemas.openxmlformats.org/officeDocument/2006/relationships/slide" Target="/ppt/slides/slide11.xml" Id="Rc820baf014a44c33" /><Relationship Type="http://schemas.openxmlformats.org/officeDocument/2006/relationships/slide" Target="/ppt/slides/slide12.xml" Id="R80275d589c3f4ef1" /><Relationship Type="http://schemas.openxmlformats.org/officeDocument/2006/relationships/slide" Target="/ppt/slides/slide13.xml" Id="R6efde3ea83d544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296f0df5f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8a321e01246ad" /><Relationship Type="http://schemas.openxmlformats.org/officeDocument/2006/relationships/notesMaster" Target="/ppt/notesMasters/notesMaster1.xml" Id="R0554d6e79ac9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e8105648f44758" /><Relationship Type="http://schemas.openxmlformats.org/officeDocument/2006/relationships/notesMaster" Target="/ppt/notesMasters/notesMaster1.xml" Id="R500d60060a8443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d1c36a4be5432d" /><Relationship Type="http://schemas.openxmlformats.org/officeDocument/2006/relationships/notesMaster" Target="/ppt/notesMasters/notesMaster1.xml" Id="R90a366bc68b545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8410a421c47e3" /><Relationship Type="http://schemas.openxmlformats.org/officeDocument/2006/relationships/notesMaster" Target="/ppt/notesMasters/notesMaster1.xml" Id="Rea6054ee321448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f705a3b1e84484" /><Relationship Type="http://schemas.openxmlformats.org/officeDocument/2006/relationships/notesMaster" Target="/ppt/notesMasters/notesMaster1.xml" Id="Rf729dc8cbfb247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514cfdad44925" /><Relationship Type="http://schemas.openxmlformats.org/officeDocument/2006/relationships/notesMaster" Target="/ppt/notesMasters/notesMaster1.xml" Id="R454a33057462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322bc230df4500" /><Relationship Type="http://schemas.openxmlformats.org/officeDocument/2006/relationships/notesMaster" Target="/ppt/notesMasters/notesMaster1.xml" Id="Rdff7836f982a42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01569c00f0415e" /><Relationship Type="http://schemas.openxmlformats.org/officeDocument/2006/relationships/notesMaster" Target="/ppt/notesMasters/notesMaster1.xml" Id="R892db11532834e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aab9ac732c41dc" /><Relationship Type="http://schemas.openxmlformats.org/officeDocument/2006/relationships/notesMaster" Target="/ppt/notesMasters/notesMaster1.xml" Id="R619b260bb20247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e5f5a024464821" /><Relationship Type="http://schemas.openxmlformats.org/officeDocument/2006/relationships/notesMaster" Target="/ppt/notesMasters/notesMaster1.xml" Id="Rb84862b9532d42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d9670790b4508" /><Relationship Type="http://schemas.openxmlformats.org/officeDocument/2006/relationships/notesMaster" Target="/ppt/notesMasters/notesMaster1.xml" Id="R70ff7d906d7f43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2e379f2a7a4697" /><Relationship Type="http://schemas.openxmlformats.org/officeDocument/2006/relationships/notesMaster" Target="/ppt/notesMasters/notesMaster1.xml" Id="R5929e596cd0a4f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9ae27d4d44850" /><Relationship Type="http://schemas.openxmlformats.org/officeDocument/2006/relationships/notesMaster" Target="/ppt/notesMasters/notesMaster1.xml" Id="Rfc94811b25fe4b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80131474c4b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7825e864a42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36d4190a54a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dcfd1b0a5490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148925a314e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7fa18737e64c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457614-32D8-48B3-8A61-524165399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2AA11F4-376C-446F-B2F8-C580D26BA7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A3EEEE-9BB6-4FC4-A666-5015C18BB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DD3E6-42B8-40D1-A4EB-6B1BA193D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53596A0-C463-4C21-BC0B-D6B2AAAE73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C01CDC-ABEB-4686-8CB8-B97BE78486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8129EF-70B4-4C3B-95F6-F6D6DA7AD5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D5EA9E-25A9-4E40-9158-31A3EFA717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AC865-0B4E-4887-9616-DE7B25EE7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8CA65F-47D7-4F96-8407-E2AC10EE9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34bd1195a4f03" /><Relationship Type="http://schemas.openxmlformats.org/officeDocument/2006/relationships/slideLayout" Target="/ppt/slideLayouts/slideLayout1.xml" Id="Rd7296672b62445e6" /><Relationship Type="http://schemas.openxmlformats.org/officeDocument/2006/relationships/slideLayout" Target="/ppt/slideLayouts/slideLayout2.xml" Id="R36082c7142904a65" /><Relationship Type="http://schemas.openxmlformats.org/officeDocument/2006/relationships/slideLayout" Target="/ppt/slideLayouts/slideLayout3.xml" Id="R42f02ef40ae24737" /><Relationship Type="http://schemas.openxmlformats.org/officeDocument/2006/relationships/slideLayout" Target="/ppt/slideLayouts/slideLayout4.xml" Id="Rcb16b9d9a97b49ad" /><Relationship Type="http://schemas.openxmlformats.org/officeDocument/2006/relationships/slideLayout" Target="/ppt/slideLayouts/slideLayout5.xml" Id="Ra111b9e1ee0842d4" /><Relationship Type="http://schemas.openxmlformats.org/officeDocument/2006/relationships/slideLayout" Target="/ppt/slideLayouts/slideLayout6.xml" Id="Rd39f0bf6f962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296672b62445e6"/>
    <p:sldLayoutId xmlns:r="http://schemas.openxmlformats.org/officeDocument/2006/relationships" id="2147483650" r:id="R36082c7142904a65"/>
    <p:sldLayoutId xmlns:r="http://schemas.openxmlformats.org/officeDocument/2006/relationships" id="2147483651" r:id="R42f02ef40ae24737"/>
    <p:sldLayoutId xmlns:r="http://schemas.openxmlformats.org/officeDocument/2006/relationships" id="2147483652" r:id="Rcb16b9d9a97b49ad"/>
    <p:sldLayoutId xmlns:r="http://schemas.openxmlformats.org/officeDocument/2006/relationships" id="2147483653" r:id="Ra111b9e1ee0842d4"/>
    <p:sldLayoutId xmlns:r="http://schemas.openxmlformats.org/officeDocument/2006/relationships" id="2147483654" r:id="Rd39f0bf6f962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85c2b57b24bb7" /><Relationship Type="http://schemas.openxmlformats.org/officeDocument/2006/relationships/notesSlide" Target="/ppt/notesSlides/notesSlide1.xml" Id="R67996d07394542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031e3cc6c4256" /><Relationship Type="http://schemas.openxmlformats.org/officeDocument/2006/relationships/notesSlide" Target="/ppt/notesSlides/notesSlide2.xml" Id="R61158f26cc744f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7e20d088b94e9c" /><Relationship Type="http://schemas.openxmlformats.org/officeDocument/2006/relationships/notesSlide" Target="/ppt/notesSlides/notesSlide3.xml" Id="R76d12063ec514e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f20c0899043ca" /><Relationship Type="http://schemas.openxmlformats.org/officeDocument/2006/relationships/notesSlide" Target="/ppt/notesSlides/notesSlide4.xml" Id="R51efe400881f4d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9be08d43144a6" /><Relationship Type="http://schemas.openxmlformats.org/officeDocument/2006/relationships/notesSlide" Target="/ppt/notesSlides/notesSlide5.xml" Id="R1d7449986b8e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2de1633fa84afd" /><Relationship Type="http://schemas.openxmlformats.org/officeDocument/2006/relationships/image" Target="/ppt/media/image.jpeg" Id="Rf4373eeee1de4beb" /><Relationship Type="http://schemas.openxmlformats.org/officeDocument/2006/relationships/notesSlide" Target="/ppt/notesSlides/notesSlide6.xml" Id="Ra74bc5d2c7ab46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af99a89024c84" /><Relationship Type="http://schemas.openxmlformats.org/officeDocument/2006/relationships/image" Target="/ppt/media/image2.jpeg" Id="Rf2f083965e6549ca" /><Relationship Type="http://schemas.openxmlformats.org/officeDocument/2006/relationships/image" Target="/ppt/media/image3.jpeg" Id="R143a86e8024f417c" /><Relationship Type="http://schemas.openxmlformats.org/officeDocument/2006/relationships/notesSlide" Target="/ppt/notesSlides/notesSlide7.xml" Id="R4bcf343e60a441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6e1130e6a49ad" /><Relationship Type="http://schemas.openxmlformats.org/officeDocument/2006/relationships/image" Target="/ppt/media/image4.jpeg" Id="R84acc17d16d54470" /><Relationship Type="http://schemas.openxmlformats.org/officeDocument/2006/relationships/notesSlide" Target="/ppt/notesSlides/notesSlide8.xml" Id="Raee0e205dd5849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efbddaaf44b75" /><Relationship Type="http://schemas.openxmlformats.org/officeDocument/2006/relationships/image" Target="/ppt/media/image5.jpeg" Id="R9a74b3888db94193" /><Relationship Type="http://schemas.openxmlformats.org/officeDocument/2006/relationships/notesSlide" Target="/ppt/notesSlides/notesSlide9.xml" Id="R6e7261a551cf48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89974c5ce491e" /><Relationship Type="http://schemas.openxmlformats.org/officeDocument/2006/relationships/image" Target="/ppt/media/image6.jpeg" Id="R71c49341314f4b1f" /><Relationship Type="http://schemas.openxmlformats.org/officeDocument/2006/relationships/image" Target="/ppt/media/image7.jpeg" Id="Rb33e68ae9c284ba9" /><Relationship Type="http://schemas.openxmlformats.org/officeDocument/2006/relationships/notesSlide" Target="/ppt/notesSlides/notesSlide10.xml" Id="Ra90c19dcd85a4c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ee868f0fd4672" /><Relationship Type="http://schemas.openxmlformats.org/officeDocument/2006/relationships/notesSlide" Target="/ppt/notesSlides/notesSlide11.xml" Id="Rd52a03b1344044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f56bac80e458f" /><Relationship Type="http://schemas.openxmlformats.org/officeDocument/2006/relationships/notesSlide" Target="/ppt/notesSlides/notesSlide12.xml" Id="R2764367d9c8645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ccc83a85949b3" /><Relationship Type="http://schemas.openxmlformats.org/officeDocument/2006/relationships/notesSlide" Target="/ppt/notesSlides/notesSlide13.xml" Id="R97517bf9049d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B8BF8-403F-4CE5-BF85-72699427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B6DFD2"/>
                </a:solidFill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6DFD2"/>
                </a:solidFill>
              </a:defRPr>
            </a:pPr>
            <a:r>
              <a:rPr sz="1275" b="1">
                <a:solidFill>
                  <a:srgbClr val="B6DFD2"/>
                </a:solidFill>
              </a:rPr>
              <a:t>CAMPUSLOOP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08E83-09D2-4FAF-A999-938BB799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838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Student to student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rentals on 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F530-8E02-49E3-B7AD-B6A92999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7EDE5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7EDE5"/>
                </a:solidFill>
              </a:defRPr>
            </a:pPr>
            <a:r>
              <a:rPr sz="1725" b="0">
                <a:solidFill>
                  <a:srgbClr val="D7EDE5"/>
                </a:solidFill>
              </a:rPr>
              <a:t>Community Engagement Project  ·  Current showcase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A3109-DEE7-4B11-B911-647BD0B5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E537D-81A4-499F-B389-E2F2021D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Rujal Sharma C-25  ·  Sudhanshu Pendalwar C-46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Shlok Mishra C-60  ·  Vansh Jain C-61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3BFEA-6084-4CF2-A466-A5D04E5B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D7EDE5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D7EDE5"/>
                </a:solidFill>
              </a:defRPr>
            </a:pPr>
            <a:r>
              <a:rPr sz="1425" b="0">
                <a:solidFill>
                  <a:srgbClr val="D7EDE5"/>
                </a:solidFill>
              </a:rPr>
              <a:t>Second Year  ·  AI and Data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60F42-718C-4594-9C0A-3AC86D62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7EDE5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7EDE5"/>
                </a:solidFill>
              </a:defRPr>
            </a:pPr>
            <a:r>
              <a:rPr sz="1350" b="0">
                <a:solidFill>
                  <a:srgbClr val="D7EDE5"/>
                </a:solidFill>
              </a:rPr>
              <a:t>Guide: Prof. Ifrah Sutar</a:t>
            </a:r>
          </a:p>
          <a:p xmlns:a="http://schemas.openxmlformats.org/drawingml/2006/main">
            <a:pPr algn="l">
              <a:defRPr sz="1350" b="0">
                <a:solidFill>
                  <a:srgbClr val="D7EDE5"/>
                </a:solidFill>
              </a:defRPr>
            </a:pPr>
            <a:r>
              <a:rPr sz="1350" b="0">
                <a:solidFill>
                  <a:srgbClr val="D7EDE5"/>
                </a:solidFill>
              </a:rPr>
              <a:t>Dr. D. Y. Patil Institute of Technology, Pimpri, Pune</a:t>
            </a:r>
          </a:p>
        </p:txBody>
      </p:sp>
    </p:spTree>
    <p:extLst>
      <p:ext uri="{BB962C8B-B14F-4D97-AF65-F5344CB8AC3E}">
        <p14:creationId xmlns:p14="http://schemas.microsoft.com/office/powerpoint/2010/main" val="1350968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92186-EE0F-4A61-BB4D-DA6DE794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D1E0F-0EA7-4E50-B1DD-2C5FFBBA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11E4C-BEA6-4AD2-8EE0-6B2F8B19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The project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40B8-1AF9-4837-BD75-0898D282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4EEF8-1C50-4FDA-8884-7AA3F8E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73F32-B6E5-47C7-95AC-6B5F3230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5DD88-904F-4525-B85D-7CC82F62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332"/>
                </a:solidFill>
              </a:defRPr>
            </a:pPr>
            <a:r>
              <a:rPr sz="2325" b="1">
                <a:solidFill>
                  <a:srgbClr val="173332"/>
                </a:solidFill>
              </a:rPr>
              <a:t>A working browser demo of a campus rental journey.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2BBD6-5670-4E48-A3DC-E005C20E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197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C2C6-EF4D-4200-A769-2A5CF9C9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55626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0AFBC-F463-467E-A299-71CFC0D7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What students can 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2F5D8-1001-486E-8069-EADD975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81375"/>
            <a:ext cx="4619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Browse items, create a listing, request dates, review requests as an owner, confirm a return and rate a completed rental.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66528-C0DC-4610-A51F-FF41E933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How the demo 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4A19A-270E-4D76-AF25-F05F7F61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4762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Four sample profiles and item data live in the browser. Changes persist locally with localStorage on the same device.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5F681-FAE6-473F-87C0-48823D1E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No live accounts, shared database, payments, deposits or escrow.</a:t>
            </a:r>
          </a:p>
        </p:txBody>
      </p:sp>
    </p:spTree>
    <p:extLst>
      <p:ext uri="{BB962C8B-B14F-4D97-AF65-F5344CB8AC3E}">
        <p14:creationId xmlns:p14="http://schemas.microsoft.com/office/powerpoint/2010/main" val="289027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EE6A1-A703-4DF2-A4DD-36C3AD1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894E-04E4-4448-ACB0-29D43885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7A9C8-B771-4070-BA13-2686E2DE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The student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D9C11-CCCE-4B26-940B-C0810198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A8C52-05D2-45A3-A901-FB0E4F08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DB261-C4FB-4A8A-A4F6-3B8B41C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28FC6-1C46-4383-8B03-179274D7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B103B-D007-45D6-B9D0-2C6FF2EB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D180A-650D-44EF-B5E9-842F877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62150"/>
            <a:ext cx="946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Useful equipment is often needed only briefly.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FBC62-A94F-492D-A7AD-CD3186A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7F2BB-E5D7-4B4A-9482-8BCB9BBA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9C848-2D2E-4F78-B87B-04A71B32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46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Buying each item raises the cost of coursework and activities.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95823-4E73-4723-BBED-02E31AE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7232E-45FD-4018-9BDA-08380AC3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555EB-787C-4728-8549-9CAEB74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946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Informal lending lacks a clear record of dates and owner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CD5F0-B8F0-4C47-91C4-ED44EBBF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04775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DBAD1-4BC9-4045-8301-345A76C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CampusLoop makes the steps of a short rental easy to see and demonstrate.</a:t>
            </a:r>
          </a:p>
        </p:txBody>
      </p:sp>
    </p:spTree>
    <p:extLst>
      <p:ext uri="{BB962C8B-B14F-4D97-AF65-F5344CB8AC3E}">
        <p14:creationId xmlns:p14="http://schemas.microsoft.com/office/powerpoint/2010/main" val="1224574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AFF5D-F4F2-4EDF-A5BD-362E8B4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CE39F-AAE1-4B6B-93B0-354D761F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13134-E248-4F49-90F3-61BA5567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Scope of the current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3316F-E291-48C0-A009-8AEFC0F3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6960-F836-4204-B82F-CD75DA8E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17174-2B00-4405-8326-DBB76D5C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D2C39-206A-4B32-9F53-A610389D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20065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268A7-8E3B-4A94-BCC2-054A554D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52600"/>
            <a:ext cx="55626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46EDB-588E-4BB4-BB58-E84554CF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C3B"/>
                </a:solidFill>
              </a:defRPr>
            </a:pPr>
            <a:r>
              <a:rPr sz="2100" b="1">
                <a:solidFill>
                  <a:srgbClr val="123C3B"/>
                </a:solidFill>
              </a:rPr>
              <a:t>Implemented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F9896-5A52-445B-939E-851EA243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Search, category filters and sorting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Item details and listing creation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Date requests and sharing terms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Owner confirmation or decline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Return confirmation and rating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Browser-local saved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24273-61E2-4C8E-81BE-6F55549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3C3B"/>
                </a:solidFill>
              </a:defRPr>
            </a:pPr>
            <a:r>
              <a:rPr sz="2100" b="1">
                <a:solidFill>
                  <a:srgbClr val="123C3B"/>
                </a:solidFill>
              </a:rPr>
              <a:t>Future product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3FD96-1C65-42B8-865E-E2BBF623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Authenticated student accounts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Shared backend and database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Verification and moderation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Notifications and dispute support</a:t>
            </a:r>
          </a:p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• Payment model, only if needed</a:t>
            </a:r>
          </a:p>
        </p:txBody>
      </p:sp>
    </p:spTree>
    <p:extLst>
      <p:ext uri="{BB962C8B-B14F-4D97-AF65-F5344CB8AC3E}">
        <p14:creationId xmlns:p14="http://schemas.microsoft.com/office/powerpoint/2010/main" val="2139125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0CA4B0-12F8-4CBF-8D97-D9219CC7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27C1B-6870-4321-8C92-33601AF7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FC0FB-EBAD-417B-B8FB-E709A700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One rental from start to finish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9E8B1-67D6-454A-A734-C982E975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AC865-A53A-440D-8CDB-DE887D4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294EF-0E2A-4FDD-ABDC-C91A2BD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DE32A-EC42-439A-A606-F7254E3A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4B99A-4C90-40D3-ADDC-F914B702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3C3B"/>
                </a:solidFill>
              </a:defRPr>
            </a:pPr>
            <a:r>
              <a:rPr sz="1575" b="1">
                <a:solidFill>
                  <a:srgbClr val="123C3B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5D729-81EE-42FB-BB84-A9EC6CE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288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071EB-DAE5-454B-8FAA-D714E679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288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Search or filter sample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3DC22-230F-46F1-9735-500CD42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0F2B3-7B5F-47AA-A618-685BD872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3C3B"/>
                </a:solidFill>
              </a:defRPr>
            </a:pPr>
            <a:r>
              <a:rPr sz="1575" b="1">
                <a:solidFill>
                  <a:srgbClr val="123C3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5DCBC-E2D2-4EC4-BAF4-1B41D4E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479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7BBE8-85B9-46AA-AA98-D149592E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Choose dates and accept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C03B1-3342-4400-BA18-A195E0F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31A45-2020-42A8-96D6-F6AB9DCF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3C3B"/>
                </a:solidFill>
              </a:defRPr>
            </a:pPr>
            <a:r>
              <a:rPr sz="1575" b="1">
                <a:solidFill>
                  <a:srgbClr val="123C3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7184B9-5BEF-4FBE-BB50-855BB0FE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671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C090D-4D59-40F8-B691-C5FCE59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671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Owner confirms or declines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8B360-9C6C-4F09-A4AA-E5EB02AC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D8FF7-B410-4EA6-944A-665BA292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3C3B"/>
                </a:solidFill>
              </a:defRPr>
            </a:pPr>
            <a:r>
              <a:rPr sz="1575" b="1">
                <a:solidFill>
                  <a:srgbClr val="123C3B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71F90-DF83-4D55-8763-F3E728A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81B4E-6277-4647-941B-2866E287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8625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Borrower requests; owner confirms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F1D55-1976-476E-A896-CCD31988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23F534-4ECD-48B4-B9A8-312E48B2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23C3B"/>
                </a:solidFill>
              </a:defRPr>
            </a:pPr>
            <a:r>
              <a:rPr sz="1575" b="1">
                <a:solidFill>
                  <a:srgbClr val="123C3B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F6E7A-9BCD-4BFE-94D7-7A0AE762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054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23C3B"/>
                </a:solidFill>
              </a:defRPr>
            </a:pPr>
            <a:r>
              <a:rPr sz="1800" b="1">
                <a:solidFill>
                  <a:srgbClr val="123C3B"/>
                </a:solidFill>
              </a:rPr>
              <a:t>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D8B544-A168-46B3-BFE6-5215A716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05400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Borrower rates the completed rental</a:t>
            </a:r>
          </a:p>
        </p:txBody>
      </p:sp>
    </p:spTree>
    <p:extLst>
      <p:ext uri="{BB962C8B-B14F-4D97-AF65-F5344CB8AC3E}">
        <p14:creationId xmlns:p14="http://schemas.microsoft.com/office/powerpoint/2010/main" val="229899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5092F-A0AD-4CEB-9949-E40D3EA6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79BCA-9465-48B1-AE6E-EB05FBB1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F0499-2AA5-461E-B9A3-75BEBFE7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Redesigned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215EE-D7D9-4F85-9D3D-5583790E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835CB-B86D-40D0-B54C-EDF4F1C1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E4B7F-E366-474A-8BCB-CEA1B1A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B22C9-B41F-4581-B0EB-8FA914CB8C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73eeee1de4beb"/>
          <a:stretch xmlns:a="http://schemas.openxmlformats.org/drawingml/2006/main"/>
        </p:blipFill>
        <p:spPr>
          <a:xfrm xmlns:a="http://schemas.openxmlformats.org/drawingml/2006/main">
            <a:off x="609600" y="1679977"/>
            <a:ext cx="6858000" cy="385999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EA85E-695B-430F-8C45-22537869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3C3B"/>
                </a:solidFill>
              </a:defRPr>
            </a:pPr>
            <a:r>
              <a:rPr sz="1950" b="1">
                <a:solidFill>
                  <a:srgbClr val="123C3B"/>
                </a:solidFill>
              </a:rPr>
              <a:t>Clear navigation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42FD8-0602-4414-9736-F309349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32385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Home, Explore items, My rentals, My listings and Demo profile each have a direct destination.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72F3C-AA70-4716-AD84-C3B7AF51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Home screen of the current responsive React demo.</a:t>
            </a:r>
          </a:p>
        </p:txBody>
      </p:sp>
    </p:spTree>
    <p:extLst>
      <p:ext uri="{BB962C8B-B14F-4D97-AF65-F5344CB8AC3E}">
        <p14:creationId xmlns:p14="http://schemas.microsoft.com/office/powerpoint/2010/main" val="1025707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B1115-8DCE-45EC-AAEC-A063D64D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656E4-FB39-489D-9C9E-7CC0AF8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728DB-5F07-47CF-BF85-6097D33F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Find and evaluate an item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6FE94-E330-4119-AEB0-4F737922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492C2-4DC4-4B61-AD03-0310E63A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D7BC6-C7E0-41A6-8D2F-9BD68915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07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10FAB-6197-4312-B974-8371E39F47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083965e6549ca"/>
          <a:stretch xmlns:a="http://schemas.openxmlformats.org/drawingml/2006/main"/>
        </p:blipFill>
        <p:spPr>
          <a:xfrm xmlns:a="http://schemas.openxmlformats.org/drawingml/2006/main">
            <a:off x="609600" y="1893382"/>
            <a:ext cx="5219700" cy="2937886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21BD0-9AEF-4FA7-92FF-B4CB2E0FB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3a86e8024f417c"/>
          <a:stretch xmlns:a="http://schemas.openxmlformats.org/drawingml/2006/main"/>
        </p:blipFill>
        <p:spPr>
          <a:xfrm xmlns:a="http://schemas.openxmlformats.org/drawingml/2006/main">
            <a:off x="6019800" y="1796882"/>
            <a:ext cx="5562600" cy="313088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1C334-74BA-4DC4-A86C-13B97561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3C3B"/>
                </a:solidFill>
              </a:defRPr>
            </a:pPr>
            <a:r>
              <a:rPr sz="1650" b="1">
                <a:solidFill>
                  <a:srgbClr val="123C3B"/>
                </a:solidFill>
              </a:rPr>
              <a:t>Explore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30F35-BB55-4DCC-9AF3-666E4E75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3C3B"/>
                </a:solidFill>
              </a:defRPr>
            </a:pPr>
            <a:r>
              <a:rPr sz="1650" b="1">
                <a:solidFill>
                  <a:srgbClr val="123C3B"/>
                </a:solidFill>
              </a:rPr>
              <a:t>Item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CB4ABA-3C7A-46FE-897F-2C5D0F6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Listings show category, condition, owner and daily rate. Details explain the handoff and demo deposit status.</a:t>
            </a:r>
          </a:p>
        </p:txBody>
      </p:sp>
    </p:spTree>
    <p:extLst>
      <p:ext uri="{BB962C8B-B14F-4D97-AF65-F5344CB8AC3E}">
        <p14:creationId xmlns:p14="http://schemas.microsoft.com/office/powerpoint/2010/main" val="1744636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59EA5-021A-4702-B2EC-9808595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5EAB-40BB-4FBC-9C4F-1AABAC1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F4E0E-21F5-4D69-AF8E-D994176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Booking request and 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35A79-265F-4E8E-8742-D6058349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5C2EC-772D-4217-B04E-18678A86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E4BE5-2D99-4763-B5AD-DEEC7C9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08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24463-2E5E-4A57-B3F8-4C7FF43578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cc17d16d54470"/>
          <a:stretch xmlns:a="http://schemas.openxmlformats.org/drawingml/2006/main"/>
        </p:blipFill>
        <p:spPr>
          <a:xfrm xmlns:a="http://schemas.openxmlformats.org/drawingml/2006/main">
            <a:off x="609600" y="1698481"/>
            <a:ext cx="6572250" cy="369916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BBC41-F9B5-4405-A3B1-84116EE9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09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3C3B"/>
                </a:solidFill>
              </a:defRPr>
            </a:pPr>
            <a:r>
              <a:rPr sz="1950" b="1">
                <a:solidFill>
                  <a:srgbClr val="123C3B"/>
                </a:solidFill>
              </a:rPr>
              <a:t>The request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47B58-5BB0-4CFE-9538-7BD74E3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3667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Choose a date range and accept the sharing terms before sending. The summary shows estimated rent.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75126-46A5-45A0-8B54-2219E63B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57625"/>
            <a:ext cx="3667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73332"/>
                </a:solidFill>
              </a:defRPr>
            </a:pPr>
            <a:r>
              <a:rPr sz="1575" b="0">
                <a:solidFill>
                  <a:srgbClr val="173332"/>
                </a:solidFill>
              </a:rPr>
              <a:t>The demo blocks own-item requests, periods over 30 days and overlapping active requests.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1A53E-1891-47C6-84A7-136DAFEB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No money is collected. Any real handoff would be arranged outside this prototype.</a:t>
            </a:r>
          </a:p>
        </p:txBody>
      </p:sp>
    </p:spTree>
    <p:extLst>
      <p:ext uri="{BB962C8B-B14F-4D97-AF65-F5344CB8AC3E}">
        <p14:creationId xmlns:p14="http://schemas.microsoft.com/office/powerpoint/2010/main" val="1913858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4E15B-434F-4ED8-AA6B-99A97F90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BCA4B-1543-4B04-BEBD-2CF0DF11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AEC85-9C1E-4E64-91D1-77D4544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Owner tools and rental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2AC3E-8781-4216-80C0-724B63AC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8A24F-6082-49FD-BBD9-AA838B35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E2DB1-EBA5-4A87-8BC0-BE9E33E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09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EE29A-F750-4E45-82D1-E61B7EC393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4b3888db94193"/>
          <a:stretch xmlns:a="http://schemas.openxmlformats.org/drawingml/2006/main"/>
        </p:blipFill>
        <p:spPr>
          <a:xfrm xmlns:a="http://schemas.openxmlformats.org/drawingml/2006/main">
            <a:off x="609600" y="1756767"/>
            <a:ext cx="6572250" cy="369689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7E959-4965-4C5B-B7D8-B12B4E7C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90725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3C3B"/>
                </a:solidFill>
              </a:defRPr>
            </a:pPr>
            <a:r>
              <a:rPr sz="1950" b="1">
                <a:solidFill>
                  <a:srgbClr val="123C3B"/>
                </a:solidFill>
              </a:rPr>
              <a:t>Borrowing and lending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AB5E9-CB37-48BB-BFAA-7095BCA0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36671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Requests appear with a status. The owner can decide on a request and later confirm a return. Borrowers can follow their rental state.</a:t>
            </a:r>
          </a:p>
        </p:txBody>
      </p:sp>
    </p:spTree>
    <p:extLst>
      <p:ext uri="{BB962C8B-B14F-4D97-AF65-F5344CB8AC3E}">
        <p14:creationId xmlns:p14="http://schemas.microsoft.com/office/powerpoint/2010/main" val="4440048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F2E68-9D9D-4694-B5A3-59CC45ED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050B3-5693-4D96-AA52-251CF5B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37016-992F-499A-9CB3-C900B78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Listings and sample profiles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028E6-CA4D-4E48-A533-5153922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B8F2B-BE20-4AD5-ABAF-8713E9B5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6DC2D-B45E-4A6F-BCD6-DD06C8BB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A1B6E-485C-4D4A-8B4A-3E3F632828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49341314f4b1f"/>
          <a:stretch xmlns:a="http://schemas.openxmlformats.org/drawingml/2006/main"/>
        </p:blipFill>
        <p:spPr>
          <a:xfrm xmlns:a="http://schemas.openxmlformats.org/drawingml/2006/main">
            <a:off x="609600" y="1893382"/>
            <a:ext cx="5219700" cy="2937886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01A23-87BD-4245-B47E-FF1BF1364A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e68ae9c284ba9"/>
          <a:stretch xmlns:a="http://schemas.openxmlformats.org/drawingml/2006/main"/>
        </p:blipFill>
        <p:spPr>
          <a:xfrm xmlns:a="http://schemas.openxmlformats.org/drawingml/2006/main">
            <a:off x="6019800" y="1796882"/>
            <a:ext cx="5562600" cy="313088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02979-F05E-449E-A547-65DA4D5F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3C3B"/>
                </a:solidFill>
              </a:defRPr>
            </a:pPr>
            <a:r>
              <a:rPr sz="1650" b="1">
                <a:solidFill>
                  <a:srgbClr val="123C3B"/>
                </a:solidFill>
              </a:rPr>
              <a:t>Create a listing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0C98C-9073-43BE-9019-9DA3D5B5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23C3B"/>
                </a:solidFill>
              </a:defRPr>
            </a:pPr>
            <a:r>
              <a:rPr sz="1650" b="1">
                <a:solidFill>
                  <a:srgbClr val="123C3B"/>
                </a:solidFill>
              </a:rPr>
              <a:t>Switch student profile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61733-237C-46E3-A04A-B1F89D85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Rujal Sharma C-25, Sudhanshu Pendalwar C-46, Shlok Mishra C-60, Vansh Jain C-61. All are second year AI and Data Science sample profiles.</a:t>
            </a:r>
          </a:p>
        </p:txBody>
      </p:sp>
    </p:spTree>
    <p:extLst>
      <p:ext uri="{BB962C8B-B14F-4D97-AF65-F5344CB8AC3E}">
        <p14:creationId xmlns:p14="http://schemas.microsoft.com/office/powerpoint/2010/main" val="7817191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B86F25-7D4A-4077-AEBF-A8144E8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1AF62-2C98-4875-9682-08879D75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FC4CC-9A54-4D26-A794-211EB2E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How the demo is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535F8-14DC-45F0-89CB-D21E8A3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DA222-0CDF-46F7-9DFB-4E6E8C66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AC244-9D02-4CF5-8C4B-9167BC0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93FD-8FD5-48A3-A2EB-0925B919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581275" cy="30099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4FB4F-9847-43AF-A255-A94AB8E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Interface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9EF4C-E1C1-4E07-9093-2CA79A87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332"/>
                </a:solidFill>
              </a:defRPr>
            </a:pPr>
            <a:r>
              <a:rPr sz="1500" b="1">
                <a:solidFill>
                  <a:srgbClr val="173332"/>
                </a:solidFill>
              </a:rPr>
              <a:t>React and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D436F-5E14-47CD-B738-F3661D1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19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6B68"/>
                </a:solidFill>
              </a:defRPr>
            </a:pPr>
            <a:r>
              <a:rPr sz="1500" b="0">
                <a:solidFill>
                  <a:srgbClr val="556B68"/>
                </a:solidFill>
              </a:rPr>
              <a:t>Responsive screens and forms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1C200-C573-4B8E-B0D5-A64868C7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62150"/>
            <a:ext cx="2581275" cy="30099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9057C-6619-477D-9DBA-6372EE5C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5B2276-7ADA-4E7B-9624-CCF641D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332"/>
                </a:solidFill>
              </a:defRPr>
            </a:pPr>
            <a:r>
              <a:rPr sz="1500" b="1">
                <a:solidFill>
                  <a:srgbClr val="173332"/>
                </a:solidFill>
              </a:rPr>
              <a:t>Marketplace module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F8FE-47AD-4527-AD88-EB213E61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19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6B68"/>
                </a:solidFill>
              </a:defRPr>
            </a:pPr>
            <a:r>
              <a:rPr sz="1500" b="0">
                <a:solidFill>
                  <a:srgbClr val="556B68"/>
                </a:solidFill>
              </a:rPr>
              <a:t>Validation, pricing, state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EEF67-2F9E-4B41-A418-5275B5B7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62150"/>
            <a:ext cx="2581275" cy="30099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DE7FA-A028-4C99-950C-9B4D9756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2123B-E840-401E-A2D2-C55E4458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332"/>
                </a:solidFill>
              </a:defRPr>
            </a:pPr>
            <a:r>
              <a:rPr sz="1500" b="1">
                <a:solidFill>
                  <a:srgbClr val="173332"/>
                </a:solidFill>
              </a:rPr>
              <a:t>Sample catalog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4DFD9-EB55-4946-944D-09702EB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76625"/>
            <a:ext cx="219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6B68"/>
                </a:solidFill>
              </a:defRPr>
            </a:pPr>
            <a:r>
              <a:rPr sz="1500" b="0">
                <a:solidFill>
                  <a:srgbClr val="556B68"/>
                </a:solidFill>
              </a:rPr>
              <a:t>Starting listings and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5BE277-29B1-48DE-A7F6-4468160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62150"/>
            <a:ext cx="2581275" cy="3009900"/>
          </a:xfrm>
          <a:prstGeom xmlns:a="http://schemas.openxmlformats.org/drawingml/2006/main" prst="roundRect">
            <a:avLst>
              <a:gd name="adj" fmla="val 2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BB667-ACE8-421E-A196-94684E9E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90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23C3B"/>
                </a:solidFill>
              </a:defRPr>
            </a:pPr>
            <a:r>
              <a:rPr sz="1875" b="1">
                <a:solidFill>
                  <a:srgbClr val="123C3B"/>
                </a:solidFill>
              </a:rPr>
              <a:t>Storage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4242A-8663-4199-B160-2D50169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8003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3332"/>
                </a:solidFill>
              </a:defRPr>
            </a:pPr>
            <a:r>
              <a:rPr sz="1500" b="1">
                <a:solidFill>
                  <a:srgbClr val="173332"/>
                </a:solidFill>
              </a:rPr>
              <a:t>localStorage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C0F23-E3E1-4E11-9FFE-45DDC79B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76625"/>
            <a:ext cx="2190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56B68"/>
                </a:solidFill>
              </a:defRPr>
            </a:pPr>
            <a:r>
              <a:rPr sz="1500" b="0">
                <a:solidFill>
                  <a:srgbClr val="556B68"/>
                </a:solidFill>
              </a:rPr>
              <a:t>Persists in the current browser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FC5A1-6117-4071-AEFA-12AC98AF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There is no Express API, SQLite database, authentication system or payment service in the current project.</a:t>
            </a:r>
          </a:p>
        </p:txBody>
      </p:sp>
    </p:spTree>
    <p:extLst>
      <p:ext uri="{BB962C8B-B14F-4D97-AF65-F5344CB8AC3E}">
        <p14:creationId xmlns:p14="http://schemas.microsoft.com/office/powerpoint/2010/main" val="459157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62BFD-D5BA-4EEB-B36F-035C758E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A5DE-3668-4557-8A69-DCE4252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AF550-52C7-489C-BF44-20B24C3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What the prototype 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4137-7564-41C9-90DE-B81A866B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00D66-DDC6-401E-B54D-63DE612F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777D1-6403-499C-A417-1886A567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32FBE-ECB7-4F86-8C80-19BE5BE5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91125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E8F4E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5D4A7-ABFB-4D2C-861E-D96C3A4E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809750"/>
            <a:ext cx="5572125" cy="3400425"/>
          </a:xfrm>
          <a:prstGeom xmlns:a="http://schemas.openxmlformats.org/drawingml/2006/main" prst="roundRect">
            <a:avLst>
              <a:gd name="adj" fmla="val 2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6D0F-04A3-485F-9A87-DA12F8D8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524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3C3B"/>
                </a:solidFill>
              </a:defRPr>
            </a:pPr>
            <a:r>
              <a:rPr sz="2025" b="1">
                <a:solidFill>
                  <a:srgbClr val="123C3B"/>
                </a:solidFill>
              </a:rPr>
              <a:t>Demonstrated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C2706-6ABE-4B26-8131-C929AF2F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4767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332"/>
                </a:solidFill>
              </a:defRPr>
            </a:pPr>
            <a:r>
              <a:rPr sz="1725" b="0">
                <a:solidFill>
                  <a:srgbClr val="173332"/>
                </a:solidFill>
              </a:rPr>
              <a:t>A complete borrower and owner interaction can be shown with understandable screens and sample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60081-7083-46F9-8351-80B079F0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3C3B"/>
                </a:solidFill>
              </a:defRPr>
            </a:pPr>
            <a:r>
              <a:rPr sz="2025" b="1">
                <a:solidFill>
                  <a:srgbClr val="123C3B"/>
                </a:solidFill>
              </a:rPr>
              <a:t>Still to 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8FBBA-30B1-4096-A33D-35AE2D3C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7625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3332"/>
                </a:solidFill>
              </a:defRPr>
            </a:pPr>
            <a:r>
              <a:rPr sz="1725" b="0">
                <a:solidFill>
                  <a:srgbClr val="173332"/>
                </a:solidFill>
              </a:rPr>
              <a:t>Real student demand, multi-device coordination, identity checks, safety processes and any payment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6130A-5310-4E43-96C3-0D8B83FF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56B68"/>
                </a:solidFill>
              </a:defRPr>
            </a:pPr>
            <a:r>
              <a:rPr sz="1200" b="0">
                <a:solidFill>
                  <a:srgbClr val="556B68"/>
                </a:solidFill>
              </a:rPr>
              <a:t>The project is ready for presentation as a demo, not for real transactions.</a:t>
            </a:r>
          </a:p>
        </p:txBody>
      </p:sp>
    </p:spTree>
    <p:extLst>
      <p:ext uri="{BB962C8B-B14F-4D97-AF65-F5344CB8AC3E}">
        <p14:creationId xmlns:p14="http://schemas.microsoft.com/office/powerpoint/2010/main" val="525853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1B915-6ADA-482F-A30A-77DC723E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6C19E-C2E7-4CAD-B475-3EC56EE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CAMPUSLOOP  /  COMMUNITY ENGAGEMENT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1EB5-4012-4840-A3DE-D32DECC2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000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23C3B"/>
                </a:solidFill>
              </a:defRPr>
            </a:pPr>
            <a:r>
              <a:rPr sz="3000" b="1">
                <a:solidFill>
                  <a:srgbClr val="123C3B"/>
                </a:solidFill>
              </a:rPr>
              <a:t>Conclusion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4A031-2CB1-4FC4-B3F1-56549156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83C8D-DB30-4432-ACE3-097727B9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56B68"/>
                </a:solidFill>
              </a:defRPr>
            </a:pPr>
            <a:r>
              <a:rPr sz="975" b="0">
                <a:solidFill>
                  <a:srgbClr val="556B68"/>
                </a:solidFill>
              </a:rPr>
              <a:t>DYPIT Pimpri  ·  AI and Data Science  ·  2026–2027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4B161-8FB3-44AB-AD95-E091E3C6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56B68"/>
                </a:solidFill>
              </a:defRPr>
            </a:pPr>
            <a:r>
              <a:rPr sz="975" b="1">
                <a:solidFill>
                  <a:srgbClr val="556B68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8CFC2-0F48-413D-8B41-B8EE111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75" b="1">
                <a:solidFill>
                  <a:srgbClr val="123C3B"/>
                </a:solidFill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23C3B"/>
                </a:solidFill>
              </a:defRPr>
            </a:pPr>
            <a:r>
              <a:rPr sz="2475" b="1">
                <a:solidFill>
                  <a:srgbClr val="123C3B"/>
                </a:solidFill>
              </a:rPr>
              <a:t>CampusLoop now shows the full rental journey in a coherent, responsive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D42ED-466B-40C5-8974-08D0AC2A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E59F1-8E20-4388-A2F3-737FDDA5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A4EE6-EEF5-46C2-BA88-8CAE323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19425"/>
            <a:ext cx="956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Test the interface with students and collect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4E830-6701-4F51-A8EF-5353BD3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575AC-06C6-4604-9BB8-7B6E9076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9D290-C356-42C8-9A7E-F89EAFD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956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Add authenticated accounts and shared storage for real use.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FF78A-F8B6-41D5-912A-0CC016E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A5621-232A-48BF-8A52-1ABA731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47296-FF50-4E3B-ADAC-5F3F18BE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956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7333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3332"/>
                </a:solidFill>
              </a:defRPr>
            </a:pPr>
            <a:r>
              <a:rPr sz="1650" b="0">
                <a:solidFill>
                  <a:srgbClr val="173332"/>
                </a:solidFill>
              </a:rPr>
              <a:t>Define moderation, handoff and payment policies with the campus.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9F430-F482-4909-8F3B-3D5C64E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56B68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56B68"/>
                </a:solidFill>
              </a:defRPr>
            </a:pPr>
            <a:r>
              <a:rPr sz="1125" b="0">
                <a:solidFill>
                  <a:srgbClr val="556B68"/>
                </a:solidFill>
              </a:rPr>
              <a:t>Concept references: Botsman and Rogers (2010); Ellen MacArthur Foundation (2013); UN SDG 12. Implementation source: CampusLoop repository, October 2026.</a:t>
            </a:r>
          </a:p>
        </p:txBody>
      </p:sp>
    </p:spTree>
    <p:extLst>
      <p:ext uri="{BB962C8B-B14F-4D97-AF65-F5344CB8AC3E}">
        <p14:creationId xmlns:p14="http://schemas.microsoft.com/office/powerpoint/2010/main" val="1431607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2026-10-13T03:28:39.5150000Z</dcterms:created>
  <dcterms:modified xsi:type="dcterms:W3CDTF">2026-10-13T03:28:39.5150000Z</dcterms:modified>
</coreProperties>
</file>